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7" r:id="rId1"/>
  </p:sldMasterIdLst>
  <p:notesMasterIdLst>
    <p:notesMasterId r:id="rId26"/>
  </p:notesMasterIdLst>
  <p:sldIdLst>
    <p:sldId id="256" r:id="rId2"/>
    <p:sldId id="259" r:id="rId3"/>
    <p:sldId id="261" r:id="rId4"/>
    <p:sldId id="257" r:id="rId5"/>
    <p:sldId id="262" r:id="rId6"/>
    <p:sldId id="273" r:id="rId7"/>
    <p:sldId id="263" r:id="rId8"/>
    <p:sldId id="266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64" r:id="rId20"/>
    <p:sldId id="267" r:id="rId21"/>
    <p:sldId id="270" r:id="rId22"/>
    <p:sldId id="268" r:id="rId23"/>
    <p:sldId id="258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3"/>
    <p:restoredTop sz="94673"/>
  </p:normalViewPr>
  <p:slideViewPr>
    <p:cSldViewPr snapToGrid="0">
      <p:cViewPr>
        <p:scale>
          <a:sx n="120" d="100"/>
          <a:sy n="120" d="100"/>
        </p:scale>
        <p:origin x="53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728B4F-FA7E-4232-A4AB-9F3D889979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38A2B8-BD9A-43AB-A2DA-C0D7C3E2F2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</a:t>
          </a:r>
        </a:p>
      </dgm:t>
    </dgm:pt>
    <dgm:pt modelId="{00FC716C-454A-4803-A70D-DBBD9E6CBD47}" type="parTrans" cxnId="{F75AA916-5340-40B1-899E-C4D6F3E47275}">
      <dgm:prSet/>
      <dgm:spPr/>
      <dgm:t>
        <a:bodyPr/>
        <a:lstStyle/>
        <a:p>
          <a:endParaRPr lang="en-US"/>
        </a:p>
      </dgm:t>
    </dgm:pt>
    <dgm:pt modelId="{BEA5069E-CD91-429C-B54C-CBBE4DB29450}" type="sibTrans" cxnId="{F75AA916-5340-40B1-899E-C4D6F3E47275}">
      <dgm:prSet/>
      <dgm:spPr/>
      <dgm:t>
        <a:bodyPr/>
        <a:lstStyle/>
        <a:p>
          <a:endParaRPr lang="en-US"/>
        </a:p>
      </dgm:t>
    </dgm:pt>
    <dgm:pt modelId="{4717E561-195A-46EF-9981-8E2652DBAE64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1400" dirty="0"/>
            <a:t>Data Used</a:t>
          </a:r>
        </a:p>
      </dgm:t>
    </dgm:pt>
    <dgm:pt modelId="{2183A771-AF17-459D-A7BA-44E3B6151002}" type="parTrans" cxnId="{6F1EDCD1-6BCD-4446-9658-E1CA2AECAC19}">
      <dgm:prSet/>
      <dgm:spPr/>
      <dgm:t>
        <a:bodyPr/>
        <a:lstStyle/>
        <a:p>
          <a:endParaRPr lang="en-US"/>
        </a:p>
      </dgm:t>
    </dgm:pt>
    <dgm:pt modelId="{F4178DE2-A693-4AAB-99EF-C86A429C0D06}" type="sibTrans" cxnId="{6F1EDCD1-6BCD-4446-9658-E1CA2AECAC19}">
      <dgm:prSet/>
      <dgm:spPr/>
      <dgm:t>
        <a:bodyPr/>
        <a:lstStyle/>
        <a:p>
          <a:endParaRPr lang="en-US"/>
        </a:p>
      </dgm:t>
    </dgm:pt>
    <dgm:pt modelId="{46656B77-FA1D-4397-A522-BC468BEDDE2D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1400" dirty="0"/>
            <a:t>Background &amp; Goal</a:t>
          </a:r>
        </a:p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1400" dirty="0"/>
            <a:t>Environment Setup</a:t>
          </a:r>
        </a:p>
      </dgm:t>
    </dgm:pt>
    <dgm:pt modelId="{C938567F-B179-4912-95F0-15FD1DE46569}" type="parTrans" cxnId="{B3863DDC-0A78-4EBD-ABB2-BB7653B0AF46}">
      <dgm:prSet/>
      <dgm:spPr/>
      <dgm:t>
        <a:bodyPr/>
        <a:lstStyle/>
        <a:p>
          <a:endParaRPr lang="en-US"/>
        </a:p>
      </dgm:t>
    </dgm:pt>
    <dgm:pt modelId="{E4B6449C-5BD4-4F0C-A1EC-689D6CC9C293}" type="sibTrans" cxnId="{B3863DDC-0A78-4EBD-ABB2-BB7653B0AF46}">
      <dgm:prSet/>
      <dgm:spPr/>
      <dgm:t>
        <a:bodyPr/>
        <a:lstStyle/>
        <a:p>
          <a:endParaRPr lang="en-US"/>
        </a:p>
      </dgm:t>
    </dgm:pt>
    <dgm:pt modelId="{48D72B25-5BB8-48E6-95BE-BCE2D1092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EDA (Exploratory Data Analysis)</a:t>
          </a:r>
          <a:endParaRPr lang="en-US" dirty="0"/>
        </a:p>
      </dgm:t>
    </dgm:pt>
    <dgm:pt modelId="{3B429C81-7AD5-4175-914F-C4FE01517269}" type="parTrans" cxnId="{25575ED5-1762-4E7D-A611-03182D7AF888}">
      <dgm:prSet/>
      <dgm:spPr/>
      <dgm:t>
        <a:bodyPr/>
        <a:lstStyle/>
        <a:p>
          <a:endParaRPr lang="en-US"/>
        </a:p>
      </dgm:t>
    </dgm:pt>
    <dgm:pt modelId="{38552EFF-89C3-4686-B134-648C683B1F44}" type="sibTrans" cxnId="{25575ED5-1762-4E7D-A611-03182D7AF888}">
      <dgm:prSet/>
      <dgm:spPr/>
      <dgm:t>
        <a:bodyPr/>
        <a:lstStyle/>
        <a:p>
          <a:endParaRPr lang="en-US"/>
        </a:p>
      </dgm:t>
    </dgm:pt>
    <dgm:pt modelId="{147C4684-8ADB-435A-AEC8-48A2B9384D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Preprocessing</a:t>
          </a:r>
        </a:p>
      </dgm:t>
    </dgm:pt>
    <dgm:pt modelId="{C33BD77F-707E-4867-B2F8-05C0F9BC3D89}" type="parTrans" cxnId="{521E398D-777D-4B27-A8C0-C90A431E2473}">
      <dgm:prSet/>
      <dgm:spPr/>
      <dgm:t>
        <a:bodyPr/>
        <a:lstStyle/>
        <a:p>
          <a:endParaRPr lang="en-US"/>
        </a:p>
      </dgm:t>
    </dgm:pt>
    <dgm:pt modelId="{896CBF76-115E-4A93-8A49-E89B5DABB17F}" type="sibTrans" cxnId="{521E398D-777D-4B27-A8C0-C90A431E2473}">
      <dgm:prSet/>
      <dgm:spPr/>
      <dgm:t>
        <a:bodyPr/>
        <a:lstStyle/>
        <a:p>
          <a:endParaRPr lang="en-US"/>
        </a:p>
      </dgm:t>
    </dgm:pt>
    <dgm:pt modelId="{AFD55760-2728-43FE-AC63-192B1292EA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Predictive Modeling</a:t>
          </a:r>
        </a:p>
      </dgm:t>
    </dgm:pt>
    <dgm:pt modelId="{06907971-4210-4B6D-B831-9A65C8DBF04E}" type="parTrans" cxnId="{957F30A7-B20A-4AB6-9881-875FD2CECFCD}">
      <dgm:prSet/>
      <dgm:spPr/>
      <dgm:t>
        <a:bodyPr/>
        <a:lstStyle/>
        <a:p>
          <a:endParaRPr lang="en-US"/>
        </a:p>
      </dgm:t>
    </dgm:pt>
    <dgm:pt modelId="{E131A4D4-2886-4CC5-BEDC-2777586A06C7}" type="sibTrans" cxnId="{957F30A7-B20A-4AB6-9881-875FD2CECFCD}">
      <dgm:prSet/>
      <dgm:spPr/>
      <dgm:t>
        <a:bodyPr/>
        <a:lstStyle/>
        <a:p>
          <a:endParaRPr lang="en-US"/>
        </a:p>
      </dgm:t>
    </dgm:pt>
    <dgm:pt modelId="{B6CA7254-B1CE-41B4-8B80-0EAD1D21A9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Conclusion</a:t>
          </a:r>
        </a:p>
      </dgm:t>
    </dgm:pt>
    <dgm:pt modelId="{63AC93CA-C27A-4170-80BF-06E53FF1B679}" type="parTrans" cxnId="{F48E1A6B-B257-421B-84CE-7A5D28FD67BF}">
      <dgm:prSet/>
      <dgm:spPr/>
      <dgm:t>
        <a:bodyPr/>
        <a:lstStyle/>
        <a:p>
          <a:endParaRPr lang="en-US"/>
        </a:p>
      </dgm:t>
    </dgm:pt>
    <dgm:pt modelId="{8DBB4B3D-4743-48C3-9799-796C8937EA19}" type="sibTrans" cxnId="{F48E1A6B-B257-421B-84CE-7A5D28FD67BF}">
      <dgm:prSet/>
      <dgm:spPr/>
      <dgm:t>
        <a:bodyPr/>
        <a:lstStyle/>
        <a:p>
          <a:endParaRPr lang="en-US"/>
        </a:p>
      </dgm:t>
    </dgm:pt>
    <dgm:pt modelId="{78816C4C-D7C1-4DA6-A147-38296F0EDD5D}" type="pres">
      <dgm:prSet presAssocID="{66728B4F-FA7E-4232-A4AB-9F3D8899798C}" presName="root" presStyleCnt="0">
        <dgm:presLayoutVars>
          <dgm:dir/>
          <dgm:resizeHandles val="exact"/>
        </dgm:presLayoutVars>
      </dgm:prSet>
      <dgm:spPr/>
    </dgm:pt>
    <dgm:pt modelId="{C0BB53E9-6281-40F3-8F1F-3104EF829341}" type="pres">
      <dgm:prSet presAssocID="{B238A2B8-BD9A-43AB-A2DA-C0D7C3E2F278}" presName="compNode" presStyleCnt="0"/>
      <dgm:spPr/>
    </dgm:pt>
    <dgm:pt modelId="{A3B7EFFC-3286-4155-9502-B20F87C843EB}" type="pres">
      <dgm:prSet presAssocID="{B238A2B8-BD9A-43AB-A2DA-C0D7C3E2F278}" presName="bgRect" presStyleLbl="bgShp" presStyleIdx="0" presStyleCnt="5"/>
      <dgm:spPr/>
    </dgm:pt>
    <dgm:pt modelId="{9CA0B4B3-E46F-4A58-B069-BFC130627679}" type="pres">
      <dgm:prSet presAssocID="{B238A2B8-BD9A-43AB-A2DA-C0D7C3E2F27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FBFFBF9-BC75-48CD-BB3E-62A3E3A6EB03}" type="pres">
      <dgm:prSet presAssocID="{B238A2B8-BD9A-43AB-A2DA-C0D7C3E2F278}" presName="spaceRect" presStyleCnt="0"/>
      <dgm:spPr/>
    </dgm:pt>
    <dgm:pt modelId="{C3A1FBAE-AA5E-45BC-8D4A-6D413CD32A88}" type="pres">
      <dgm:prSet presAssocID="{B238A2B8-BD9A-43AB-A2DA-C0D7C3E2F278}" presName="parTx" presStyleLbl="revTx" presStyleIdx="0" presStyleCnt="6">
        <dgm:presLayoutVars>
          <dgm:chMax val="0"/>
          <dgm:chPref val="0"/>
        </dgm:presLayoutVars>
      </dgm:prSet>
      <dgm:spPr/>
    </dgm:pt>
    <dgm:pt modelId="{160A4B5D-66BF-4D69-8843-14DC7898F82F}" type="pres">
      <dgm:prSet presAssocID="{B238A2B8-BD9A-43AB-A2DA-C0D7C3E2F278}" presName="desTx" presStyleLbl="revTx" presStyleIdx="1" presStyleCnt="6">
        <dgm:presLayoutVars/>
      </dgm:prSet>
      <dgm:spPr/>
    </dgm:pt>
    <dgm:pt modelId="{457691B5-8955-4E11-AEBC-61FDE3DA46D3}" type="pres">
      <dgm:prSet presAssocID="{BEA5069E-CD91-429C-B54C-CBBE4DB29450}" presName="sibTrans" presStyleCnt="0"/>
      <dgm:spPr/>
    </dgm:pt>
    <dgm:pt modelId="{52A7608F-B1B9-4391-8723-27A082311719}" type="pres">
      <dgm:prSet presAssocID="{48D72B25-5BB8-48E6-95BE-BCE2D1092747}" presName="compNode" presStyleCnt="0"/>
      <dgm:spPr/>
    </dgm:pt>
    <dgm:pt modelId="{480D9EE7-792E-40EA-90B9-05ED819BBCB7}" type="pres">
      <dgm:prSet presAssocID="{48D72B25-5BB8-48E6-95BE-BCE2D1092747}" presName="bgRect" presStyleLbl="bgShp" presStyleIdx="1" presStyleCnt="5"/>
      <dgm:spPr/>
    </dgm:pt>
    <dgm:pt modelId="{26C9350F-00AA-493A-875E-0622CF9188A2}" type="pres">
      <dgm:prSet presAssocID="{48D72B25-5BB8-48E6-95BE-BCE2D109274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A8F7617-4EA7-43B2-82B9-16756193B58D}" type="pres">
      <dgm:prSet presAssocID="{48D72B25-5BB8-48E6-95BE-BCE2D1092747}" presName="spaceRect" presStyleCnt="0"/>
      <dgm:spPr/>
    </dgm:pt>
    <dgm:pt modelId="{B73D9638-DE33-47E0-A561-F2A1B0FC99BE}" type="pres">
      <dgm:prSet presAssocID="{48D72B25-5BB8-48E6-95BE-BCE2D1092747}" presName="parTx" presStyleLbl="revTx" presStyleIdx="2" presStyleCnt="6">
        <dgm:presLayoutVars>
          <dgm:chMax val="0"/>
          <dgm:chPref val="0"/>
        </dgm:presLayoutVars>
      </dgm:prSet>
      <dgm:spPr/>
    </dgm:pt>
    <dgm:pt modelId="{929B8766-1450-41ED-B634-D02209B1D21D}" type="pres">
      <dgm:prSet presAssocID="{38552EFF-89C3-4686-B134-648C683B1F44}" presName="sibTrans" presStyleCnt="0"/>
      <dgm:spPr/>
    </dgm:pt>
    <dgm:pt modelId="{2BAC64A9-9053-4DE8-83EE-FB4E6514DD42}" type="pres">
      <dgm:prSet presAssocID="{147C4684-8ADB-435A-AEC8-48A2B9384D79}" presName="compNode" presStyleCnt="0"/>
      <dgm:spPr/>
    </dgm:pt>
    <dgm:pt modelId="{FFE6E2E1-9C22-42F1-984B-BBF285EC1313}" type="pres">
      <dgm:prSet presAssocID="{147C4684-8ADB-435A-AEC8-48A2B9384D79}" presName="bgRect" presStyleLbl="bgShp" presStyleIdx="2" presStyleCnt="5"/>
      <dgm:spPr/>
    </dgm:pt>
    <dgm:pt modelId="{24A3CE0F-A306-434E-848C-0E1651F3CD72}" type="pres">
      <dgm:prSet presAssocID="{147C4684-8ADB-435A-AEC8-48A2B9384D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14F6F31-8FA7-4DE9-946B-606FEC7F67F6}" type="pres">
      <dgm:prSet presAssocID="{147C4684-8ADB-435A-AEC8-48A2B9384D79}" presName="spaceRect" presStyleCnt="0"/>
      <dgm:spPr/>
    </dgm:pt>
    <dgm:pt modelId="{CCAFF5DF-C6CB-4AAC-8CD6-A302DEBC1490}" type="pres">
      <dgm:prSet presAssocID="{147C4684-8ADB-435A-AEC8-48A2B9384D79}" presName="parTx" presStyleLbl="revTx" presStyleIdx="3" presStyleCnt="6">
        <dgm:presLayoutVars>
          <dgm:chMax val="0"/>
          <dgm:chPref val="0"/>
        </dgm:presLayoutVars>
      </dgm:prSet>
      <dgm:spPr/>
    </dgm:pt>
    <dgm:pt modelId="{62BD2B2A-8411-4196-84C5-80083F915FB7}" type="pres">
      <dgm:prSet presAssocID="{896CBF76-115E-4A93-8A49-E89B5DABB17F}" presName="sibTrans" presStyleCnt="0"/>
      <dgm:spPr/>
    </dgm:pt>
    <dgm:pt modelId="{47ECC060-56EC-40F1-A6ED-E906794C2B16}" type="pres">
      <dgm:prSet presAssocID="{AFD55760-2728-43FE-AC63-192B1292EAF6}" presName="compNode" presStyleCnt="0"/>
      <dgm:spPr/>
    </dgm:pt>
    <dgm:pt modelId="{1AAE8DD3-C2AF-4B45-8CF3-1972726CD091}" type="pres">
      <dgm:prSet presAssocID="{AFD55760-2728-43FE-AC63-192B1292EAF6}" presName="bgRect" presStyleLbl="bgShp" presStyleIdx="3" presStyleCnt="5"/>
      <dgm:spPr/>
    </dgm:pt>
    <dgm:pt modelId="{0E7FA81A-01A0-4A99-B0B6-05B0221A7214}" type="pres">
      <dgm:prSet presAssocID="{AFD55760-2728-43FE-AC63-192B1292EA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8E3682C-2C2A-4F6F-8A1D-92C555C3CCD1}" type="pres">
      <dgm:prSet presAssocID="{AFD55760-2728-43FE-AC63-192B1292EAF6}" presName="spaceRect" presStyleCnt="0"/>
      <dgm:spPr/>
    </dgm:pt>
    <dgm:pt modelId="{F5924C79-EE76-4C91-BCE6-0C329F8E92FC}" type="pres">
      <dgm:prSet presAssocID="{AFD55760-2728-43FE-AC63-192B1292EAF6}" presName="parTx" presStyleLbl="revTx" presStyleIdx="4" presStyleCnt="6">
        <dgm:presLayoutVars>
          <dgm:chMax val="0"/>
          <dgm:chPref val="0"/>
        </dgm:presLayoutVars>
      </dgm:prSet>
      <dgm:spPr/>
    </dgm:pt>
    <dgm:pt modelId="{9B16D17C-D4C5-4875-B4A7-8379BE4C21BC}" type="pres">
      <dgm:prSet presAssocID="{E131A4D4-2886-4CC5-BEDC-2777586A06C7}" presName="sibTrans" presStyleCnt="0"/>
      <dgm:spPr/>
    </dgm:pt>
    <dgm:pt modelId="{F4FF99E2-375D-49E4-BF02-6BF63D056323}" type="pres">
      <dgm:prSet presAssocID="{B6CA7254-B1CE-41B4-8B80-0EAD1D21A94B}" presName="compNode" presStyleCnt="0"/>
      <dgm:spPr/>
    </dgm:pt>
    <dgm:pt modelId="{30AEF1B5-48E1-40B9-8B5D-5429DA4BF730}" type="pres">
      <dgm:prSet presAssocID="{B6CA7254-B1CE-41B4-8B80-0EAD1D21A94B}" presName="bgRect" presStyleLbl="bgShp" presStyleIdx="4" presStyleCnt="5"/>
      <dgm:spPr/>
    </dgm:pt>
    <dgm:pt modelId="{D1F4F376-FD84-4A0A-BADB-8387FE9B2D07}" type="pres">
      <dgm:prSet presAssocID="{B6CA7254-B1CE-41B4-8B80-0EAD1D21A9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F18EE8E-72C7-4A8B-839C-0193DF3A1CD7}" type="pres">
      <dgm:prSet presAssocID="{B6CA7254-B1CE-41B4-8B80-0EAD1D21A94B}" presName="spaceRect" presStyleCnt="0"/>
      <dgm:spPr/>
    </dgm:pt>
    <dgm:pt modelId="{1BD369D8-D246-4842-8264-87AE0AA5D54B}" type="pres">
      <dgm:prSet presAssocID="{B6CA7254-B1CE-41B4-8B80-0EAD1D21A94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75AA916-5340-40B1-899E-C4D6F3E47275}" srcId="{66728B4F-FA7E-4232-A4AB-9F3D8899798C}" destId="{B238A2B8-BD9A-43AB-A2DA-C0D7C3E2F278}" srcOrd="0" destOrd="0" parTransId="{00FC716C-454A-4803-A70D-DBBD9E6CBD47}" sibTransId="{BEA5069E-CD91-429C-B54C-CBBE4DB29450}"/>
    <dgm:cxn modelId="{2903D851-836D-48E0-A088-D4A5A769DE76}" type="presOf" srcId="{AFD55760-2728-43FE-AC63-192B1292EAF6}" destId="{F5924C79-EE76-4C91-BCE6-0C329F8E92FC}" srcOrd="0" destOrd="0" presId="urn:microsoft.com/office/officeart/2018/2/layout/IconVerticalSolidList"/>
    <dgm:cxn modelId="{6777B359-D463-4016-B221-A8C0D0652674}" type="presOf" srcId="{B238A2B8-BD9A-43AB-A2DA-C0D7C3E2F278}" destId="{C3A1FBAE-AA5E-45BC-8D4A-6D413CD32A88}" srcOrd="0" destOrd="0" presId="urn:microsoft.com/office/officeart/2018/2/layout/IconVerticalSolidList"/>
    <dgm:cxn modelId="{F48E1A6B-B257-421B-84CE-7A5D28FD67BF}" srcId="{66728B4F-FA7E-4232-A4AB-9F3D8899798C}" destId="{B6CA7254-B1CE-41B4-8B80-0EAD1D21A94B}" srcOrd="4" destOrd="0" parTransId="{63AC93CA-C27A-4170-80BF-06E53FF1B679}" sibTransId="{8DBB4B3D-4743-48C3-9799-796C8937EA19}"/>
    <dgm:cxn modelId="{7A1B1971-9318-4FE9-8D4F-5895E43A2719}" type="presOf" srcId="{4717E561-195A-46EF-9981-8E2652DBAE64}" destId="{160A4B5D-66BF-4D69-8843-14DC7898F82F}" srcOrd="0" destOrd="0" presId="urn:microsoft.com/office/officeart/2018/2/layout/IconVerticalSolidList"/>
    <dgm:cxn modelId="{521E398D-777D-4B27-A8C0-C90A431E2473}" srcId="{66728B4F-FA7E-4232-A4AB-9F3D8899798C}" destId="{147C4684-8ADB-435A-AEC8-48A2B9384D79}" srcOrd="2" destOrd="0" parTransId="{C33BD77F-707E-4867-B2F8-05C0F9BC3D89}" sibTransId="{896CBF76-115E-4A93-8A49-E89B5DABB17F}"/>
    <dgm:cxn modelId="{957F30A7-B20A-4AB6-9881-875FD2CECFCD}" srcId="{66728B4F-FA7E-4232-A4AB-9F3D8899798C}" destId="{AFD55760-2728-43FE-AC63-192B1292EAF6}" srcOrd="3" destOrd="0" parTransId="{06907971-4210-4B6D-B831-9A65C8DBF04E}" sibTransId="{E131A4D4-2886-4CC5-BEDC-2777586A06C7}"/>
    <dgm:cxn modelId="{0EDA97A9-8578-47E8-B951-731857AF7CD2}" type="presOf" srcId="{B6CA7254-B1CE-41B4-8B80-0EAD1D21A94B}" destId="{1BD369D8-D246-4842-8264-87AE0AA5D54B}" srcOrd="0" destOrd="0" presId="urn:microsoft.com/office/officeart/2018/2/layout/IconVerticalSolidList"/>
    <dgm:cxn modelId="{B6C86CAB-EEF7-4713-AE56-838A3926CD49}" type="presOf" srcId="{48D72B25-5BB8-48E6-95BE-BCE2D1092747}" destId="{B73D9638-DE33-47E0-A561-F2A1B0FC99BE}" srcOrd="0" destOrd="0" presId="urn:microsoft.com/office/officeart/2018/2/layout/IconVerticalSolidList"/>
    <dgm:cxn modelId="{5C5482C5-DB09-46B8-AA75-9441ADA6AB07}" type="presOf" srcId="{46656B77-FA1D-4397-A522-BC468BEDDE2D}" destId="{160A4B5D-66BF-4D69-8843-14DC7898F82F}" srcOrd="0" destOrd="1" presId="urn:microsoft.com/office/officeart/2018/2/layout/IconVerticalSolidList"/>
    <dgm:cxn modelId="{6F1EDCD1-6BCD-4446-9658-E1CA2AECAC19}" srcId="{B238A2B8-BD9A-43AB-A2DA-C0D7C3E2F278}" destId="{4717E561-195A-46EF-9981-8E2652DBAE64}" srcOrd="0" destOrd="0" parTransId="{2183A771-AF17-459D-A7BA-44E3B6151002}" sibTransId="{F4178DE2-A693-4AAB-99EF-C86A429C0D06}"/>
    <dgm:cxn modelId="{25575ED5-1762-4E7D-A611-03182D7AF888}" srcId="{66728B4F-FA7E-4232-A4AB-9F3D8899798C}" destId="{48D72B25-5BB8-48E6-95BE-BCE2D1092747}" srcOrd="1" destOrd="0" parTransId="{3B429C81-7AD5-4175-914F-C4FE01517269}" sibTransId="{38552EFF-89C3-4686-B134-648C683B1F44}"/>
    <dgm:cxn modelId="{CCF173D8-92AE-4222-BE8B-24515187FF60}" type="presOf" srcId="{66728B4F-FA7E-4232-A4AB-9F3D8899798C}" destId="{78816C4C-D7C1-4DA6-A147-38296F0EDD5D}" srcOrd="0" destOrd="0" presId="urn:microsoft.com/office/officeart/2018/2/layout/IconVerticalSolidList"/>
    <dgm:cxn modelId="{B3863DDC-0A78-4EBD-ABB2-BB7653B0AF46}" srcId="{B238A2B8-BD9A-43AB-A2DA-C0D7C3E2F278}" destId="{46656B77-FA1D-4397-A522-BC468BEDDE2D}" srcOrd="1" destOrd="0" parTransId="{C938567F-B179-4912-95F0-15FD1DE46569}" sibTransId="{E4B6449C-5BD4-4F0C-A1EC-689D6CC9C293}"/>
    <dgm:cxn modelId="{5DC465F5-03BF-4E04-B7C3-4B000349B9CC}" type="presOf" srcId="{147C4684-8ADB-435A-AEC8-48A2B9384D79}" destId="{CCAFF5DF-C6CB-4AAC-8CD6-A302DEBC1490}" srcOrd="0" destOrd="0" presId="urn:microsoft.com/office/officeart/2018/2/layout/IconVerticalSolidList"/>
    <dgm:cxn modelId="{D64869BD-A59C-4551-AF15-A35DEC70A8EA}" type="presParOf" srcId="{78816C4C-D7C1-4DA6-A147-38296F0EDD5D}" destId="{C0BB53E9-6281-40F3-8F1F-3104EF829341}" srcOrd="0" destOrd="0" presId="urn:microsoft.com/office/officeart/2018/2/layout/IconVerticalSolidList"/>
    <dgm:cxn modelId="{A8D3B0F7-A2AB-45E1-86E6-A4FF35B19EA7}" type="presParOf" srcId="{C0BB53E9-6281-40F3-8F1F-3104EF829341}" destId="{A3B7EFFC-3286-4155-9502-B20F87C843EB}" srcOrd="0" destOrd="0" presId="urn:microsoft.com/office/officeart/2018/2/layout/IconVerticalSolidList"/>
    <dgm:cxn modelId="{FF927D87-2F66-48C1-BBCE-1359F30DC34C}" type="presParOf" srcId="{C0BB53E9-6281-40F3-8F1F-3104EF829341}" destId="{9CA0B4B3-E46F-4A58-B069-BFC130627679}" srcOrd="1" destOrd="0" presId="urn:microsoft.com/office/officeart/2018/2/layout/IconVerticalSolidList"/>
    <dgm:cxn modelId="{E57CA2A4-8C02-458D-88C6-2FBE26F866C8}" type="presParOf" srcId="{C0BB53E9-6281-40F3-8F1F-3104EF829341}" destId="{FFBFFBF9-BC75-48CD-BB3E-62A3E3A6EB03}" srcOrd="2" destOrd="0" presId="urn:microsoft.com/office/officeart/2018/2/layout/IconVerticalSolidList"/>
    <dgm:cxn modelId="{27172724-9CEA-49D7-AC9C-076F85C31737}" type="presParOf" srcId="{C0BB53E9-6281-40F3-8F1F-3104EF829341}" destId="{C3A1FBAE-AA5E-45BC-8D4A-6D413CD32A88}" srcOrd="3" destOrd="0" presId="urn:microsoft.com/office/officeart/2018/2/layout/IconVerticalSolidList"/>
    <dgm:cxn modelId="{E6404705-65AF-4C8E-B7B9-B235453A3A27}" type="presParOf" srcId="{C0BB53E9-6281-40F3-8F1F-3104EF829341}" destId="{160A4B5D-66BF-4D69-8843-14DC7898F82F}" srcOrd="4" destOrd="0" presId="urn:microsoft.com/office/officeart/2018/2/layout/IconVerticalSolidList"/>
    <dgm:cxn modelId="{E8687CA0-BA55-4501-84E0-8DB264A86505}" type="presParOf" srcId="{78816C4C-D7C1-4DA6-A147-38296F0EDD5D}" destId="{457691B5-8955-4E11-AEBC-61FDE3DA46D3}" srcOrd="1" destOrd="0" presId="urn:microsoft.com/office/officeart/2018/2/layout/IconVerticalSolidList"/>
    <dgm:cxn modelId="{AAB73F7C-DEE4-40E8-A01A-07CC173AA36B}" type="presParOf" srcId="{78816C4C-D7C1-4DA6-A147-38296F0EDD5D}" destId="{52A7608F-B1B9-4391-8723-27A082311719}" srcOrd="2" destOrd="0" presId="urn:microsoft.com/office/officeart/2018/2/layout/IconVerticalSolidList"/>
    <dgm:cxn modelId="{4CB66C11-2B2A-47BB-A534-24453AACD5CF}" type="presParOf" srcId="{52A7608F-B1B9-4391-8723-27A082311719}" destId="{480D9EE7-792E-40EA-90B9-05ED819BBCB7}" srcOrd="0" destOrd="0" presId="urn:microsoft.com/office/officeart/2018/2/layout/IconVerticalSolidList"/>
    <dgm:cxn modelId="{AA61517E-A47D-4358-999E-C8DCEF7A32BA}" type="presParOf" srcId="{52A7608F-B1B9-4391-8723-27A082311719}" destId="{26C9350F-00AA-493A-875E-0622CF9188A2}" srcOrd="1" destOrd="0" presId="urn:microsoft.com/office/officeart/2018/2/layout/IconVerticalSolidList"/>
    <dgm:cxn modelId="{22C6D1FD-8128-466D-986F-C0D18077896A}" type="presParOf" srcId="{52A7608F-B1B9-4391-8723-27A082311719}" destId="{BA8F7617-4EA7-43B2-82B9-16756193B58D}" srcOrd="2" destOrd="0" presId="urn:microsoft.com/office/officeart/2018/2/layout/IconVerticalSolidList"/>
    <dgm:cxn modelId="{DF5E0BCD-FFE9-4E00-9DB1-1F2E86E6CC7E}" type="presParOf" srcId="{52A7608F-B1B9-4391-8723-27A082311719}" destId="{B73D9638-DE33-47E0-A561-F2A1B0FC99BE}" srcOrd="3" destOrd="0" presId="urn:microsoft.com/office/officeart/2018/2/layout/IconVerticalSolidList"/>
    <dgm:cxn modelId="{3299AA56-04DF-4EA0-BDB2-ACD2A653E49D}" type="presParOf" srcId="{78816C4C-D7C1-4DA6-A147-38296F0EDD5D}" destId="{929B8766-1450-41ED-B634-D02209B1D21D}" srcOrd="3" destOrd="0" presId="urn:microsoft.com/office/officeart/2018/2/layout/IconVerticalSolidList"/>
    <dgm:cxn modelId="{161BBE07-E24E-4F61-9DDF-93D1CC38CBF9}" type="presParOf" srcId="{78816C4C-D7C1-4DA6-A147-38296F0EDD5D}" destId="{2BAC64A9-9053-4DE8-83EE-FB4E6514DD42}" srcOrd="4" destOrd="0" presId="urn:microsoft.com/office/officeart/2018/2/layout/IconVerticalSolidList"/>
    <dgm:cxn modelId="{1CB79B72-7C54-4968-B8A4-C05EBDDF7D0F}" type="presParOf" srcId="{2BAC64A9-9053-4DE8-83EE-FB4E6514DD42}" destId="{FFE6E2E1-9C22-42F1-984B-BBF285EC1313}" srcOrd="0" destOrd="0" presId="urn:microsoft.com/office/officeart/2018/2/layout/IconVerticalSolidList"/>
    <dgm:cxn modelId="{B393A972-456D-4124-853F-BF29D38254C7}" type="presParOf" srcId="{2BAC64A9-9053-4DE8-83EE-FB4E6514DD42}" destId="{24A3CE0F-A306-434E-848C-0E1651F3CD72}" srcOrd="1" destOrd="0" presId="urn:microsoft.com/office/officeart/2018/2/layout/IconVerticalSolidList"/>
    <dgm:cxn modelId="{88C671F0-6564-4553-9F69-3B967F38036B}" type="presParOf" srcId="{2BAC64A9-9053-4DE8-83EE-FB4E6514DD42}" destId="{614F6F31-8FA7-4DE9-946B-606FEC7F67F6}" srcOrd="2" destOrd="0" presId="urn:microsoft.com/office/officeart/2018/2/layout/IconVerticalSolidList"/>
    <dgm:cxn modelId="{D1AB4F6F-D706-4458-8848-0EB6EE89770B}" type="presParOf" srcId="{2BAC64A9-9053-4DE8-83EE-FB4E6514DD42}" destId="{CCAFF5DF-C6CB-4AAC-8CD6-A302DEBC1490}" srcOrd="3" destOrd="0" presId="urn:microsoft.com/office/officeart/2018/2/layout/IconVerticalSolidList"/>
    <dgm:cxn modelId="{A3524AAE-BF0F-4C9F-9A5D-C1B4AEF3ECF3}" type="presParOf" srcId="{78816C4C-D7C1-4DA6-A147-38296F0EDD5D}" destId="{62BD2B2A-8411-4196-84C5-80083F915FB7}" srcOrd="5" destOrd="0" presId="urn:microsoft.com/office/officeart/2018/2/layout/IconVerticalSolidList"/>
    <dgm:cxn modelId="{23F5889A-0C51-400B-A72E-5EE5963707FD}" type="presParOf" srcId="{78816C4C-D7C1-4DA6-A147-38296F0EDD5D}" destId="{47ECC060-56EC-40F1-A6ED-E906794C2B16}" srcOrd="6" destOrd="0" presId="urn:microsoft.com/office/officeart/2018/2/layout/IconVerticalSolidList"/>
    <dgm:cxn modelId="{ACD2D83F-53F4-4E15-959F-5BDBDC1FB507}" type="presParOf" srcId="{47ECC060-56EC-40F1-A6ED-E906794C2B16}" destId="{1AAE8DD3-C2AF-4B45-8CF3-1972726CD091}" srcOrd="0" destOrd="0" presId="urn:microsoft.com/office/officeart/2018/2/layout/IconVerticalSolidList"/>
    <dgm:cxn modelId="{312F2FEC-2209-46B1-9CAE-543800EE1F07}" type="presParOf" srcId="{47ECC060-56EC-40F1-A6ED-E906794C2B16}" destId="{0E7FA81A-01A0-4A99-B0B6-05B0221A7214}" srcOrd="1" destOrd="0" presId="urn:microsoft.com/office/officeart/2018/2/layout/IconVerticalSolidList"/>
    <dgm:cxn modelId="{FA2DAEFE-7571-44F8-B836-66D5C6BD6909}" type="presParOf" srcId="{47ECC060-56EC-40F1-A6ED-E906794C2B16}" destId="{08E3682C-2C2A-4F6F-8A1D-92C555C3CCD1}" srcOrd="2" destOrd="0" presId="urn:microsoft.com/office/officeart/2018/2/layout/IconVerticalSolidList"/>
    <dgm:cxn modelId="{62AE7AC5-C8CA-4C3E-9E84-507DD57968E7}" type="presParOf" srcId="{47ECC060-56EC-40F1-A6ED-E906794C2B16}" destId="{F5924C79-EE76-4C91-BCE6-0C329F8E92FC}" srcOrd="3" destOrd="0" presId="urn:microsoft.com/office/officeart/2018/2/layout/IconVerticalSolidList"/>
    <dgm:cxn modelId="{6A59BB4C-CB47-4AE3-8287-507C29616BF5}" type="presParOf" srcId="{78816C4C-D7C1-4DA6-A147-38296F0EDD5D}" destId="{9B16D17C-D4C5-4875-B4A7-8379BE4C21BC}" srcOrd="7" destOrd="0" presId="urn:microsoft.com/office/officeart/2018/2/layout/IconVerticalSolidList"/>
    <dgm:cxn modelId="{2952515E-F057-4036-9CD8-D2655CF63017}" type="presParOf" srcId="{78816C4C-D7C1-4DA6-A147-38296F0EDD5D}" destId="{F4FF99E2-375D-49E4-BF02-6BF63D056323}" srcOrd="8" destOrd="0" presId="urn:microsoft.com/office/officeart/2018/2/layout/IconVerticalSolidList"/>
    <dgm:cxn modelId="{4F20249D-77EE-47CF-A5CF-EEED6020BAB5}" type="presParOf" srcId="{F4FF99E2-375D-49E4-BF02-6BF63D056323}" destId="{30AEF1B5-48E1-40B9-8B5D-5429DA4BF730}" srcOrd="0" destOrd="0" presId="urn:microsoft.com/office/officeart/2018/2/layout/IconVerticalSolidList"/>
    <dgm:cxn modelId="{FCE9F032-B58C-4959-9313-0320F378F5B9}" type="presParOf" srcId="{F4FF99E2-375D-49E4-BF02-6BF63D056323}" destId="{D1F4F376-FD84-4A0A-BADB-8387FE9B2D07}" srcOrd="1" destOrd="0" presId="urn:microsoft.com/office/officeart/2018/2/layout/IconVerticalSolidList"/>
    <dgm:cxn modelId="{04AD48ED-4E69-4778-BAF2-A16097F09118}" type="presParOf" srcId="{F4FF99E2-375D-49E4-BF02-6BF63D056323}" destId="{2F18EE8E-72C7-4A8B-839C-0193DF3A1CD7}" srcOrd="2" destOrd="0" presId="urn:microsoft.com/office/officeart/2018/2/layout/IconVerticalSolidList"/>
    <dgm:cxn modelId="{79E7C1EB-6AC2-4693-9BF4-CADC62188ED3}" type="presParOf" srcId="{F4FF99E2-375D-49E4-BF02-6BF63D056323}" destId="{1BD369D8-D246-4842-8264-87AE0AA5D5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7EFFC-3286-4155-9502-B20F87C843EB}">
      <dsp:nvSpPr>
        <dsp:cNvPr id="0" name=""/>
        <dsp:cNvSpPr/>
      </dsp:nvSpPr>
      <dsp:spPr>
        <a:xfrm>
          <a:off x="0" y="6659"/>
          <a:ext cx="4815840" cy="872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0B4B3-E46F-4A58-B069-BFC130627679}">
      <dsp:nvSpPr>
        <dsp:cNvPr id="0" name=""/>
        <dsp:cNvSpPr/>
      </dsp:nvSpPr>
      <dsp:spPr>
        <a:xfrm>
          <a:off x="263948" y="202984"/>
          <a:ext cx="479905" cy="4799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1FBAE-AA5E-45BC-8D4A-6D413CD32A88}">
      <dsp:nvSpPr>
        <dsp:cNvPr id="0" name=""/>
        <dsp:cNvSpPr/>
      </dsp:nvSpPr>
      <dsp:spPr>
        <a:xfrm>
          <a:off x="1007802" y="6659"/>
          <a:ext cx="2167128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</a:t>
          </a:r>
        </a:p>
      </dsp:txBody>
      <dsp:txXfrm>
        <a:off x="1007802" y="6659"/>
        <a:ext cx="2167128" cy="872556"/>
      </dsp:txXfrm>
    </dsp:sp>
    <dsp:sp modelId="{160A4B5D-66BF-4D69-8843-14DC7898F82F}">
      <dsp:nvSpPr>
        <dsp:cNvPr id="0" name=""/>
        <dsp:cNvSpPr/>
      </dsp:nvSpPr>
      <dsp:spPr>
        <a:xfrm>
          <a:off x="3174930" y="6659"/>
          <a:ext cx="1639924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Data Used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Background &amp; Goal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Environment Setup</a:t>
          </a:r>
        </a:p>
      </dsp:txBody>
      <dsp:txXfrm>
        <a:off x="3174930" y="6659"/>
        <a:ext cx="1639924" cy="872556"/>
      </dsp:txXfrm>
    </dsp:sp>
    <dsp:sp modelId="{480D9EE7-792E-40EA-90B9-05ED819BBCB7}">
      <dsp:nvSpPr>
        <dsp:cNvPr id="0" name=""/>
        <dsp:cNvSpPr/>
      </dsp:nvSpPr>
      <dsp:spPr>
        <a:xfrm>
          <a:off x="0" y="1097354"/>
          <a:ext cx="4815840" cy="872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9350F-00AA-493A-875E-0622CF9188A2}">
      <dsp:nvSpPr>
        <dsp:cNvPr id="0" name=""/>
        <dsp:cNvSpPr/>
      </dsp:nvSpPr>
      <dsp:spPr>
        <a:xfrm>
          <a:off x="263948" y="1293679"/>
          <a:ext cx="479905" cy="4799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D9638-DE33-47E0-A561-F2A1B0FC99BE}">
      <dsp:nvSpPr>
        <dsp:cNvPr id="0" name=""/>
        <dsp:cNvSpPr/>
      </dsp:nvSpPr>
      <dsp:spPr>
        <a:xfrm>
          <a:off x="1007802" y="1097354"/>
          <a:ext cx="3807052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EDA (Exploratory Data Analysis)</a:t>
          </a:r>
          <a:endParaRPr lang="en-US" sz="1900" kern="1200" dirty="0"/>
        </a:p>
      </dsp:txBody>
      <dsp:txXfrm>
        <a:off x="1007802" y="1097354"/>
        <a:ext cx="3807052" cy="872556"/>
      </dsp:txXfrm>
    </dsp:sp>
    <dsp:sp modelId="{FFE6E2E1-9C22-42F1-984B-BBF285EC1313}">
      <dsp:nvSpPr>
        <dsp:cNvPr id="0" name=""/>
        <dsp:cNvSpPr/>
      </dsp:nvSpPr>
      <dsp:spPr>
        <a:xfrm>
          <a:off x="0" y="2188049"/>
          <a:ext cx="4815840" cy="872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3CE0F-A306-434E-848C-0E1651F3CD72}">
      <dsp:nvSpPr>
        <dsp:cNvPr id="0" name=""/>
        <dsp:cNvSpPr/>
      </dsp:nvSpPr>
      <dsp:spPr>
        <a:xfrm>
          <a:off x="263948" y="2384375"/>
          <a:ext cx="479905" cy="4799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FF5DF-C6CB-4AAC-8CD6-A302DEBC1490}">
      <dsp:nvSpPr>
        <dsp:cNvPr id="0" name=""/>
        <dsp:cNvSpPr/>
      </dsp:nvSpPr>
      <dsp:spPr>
        <a:xfrm>
          <a:off x="1007802" y="2188049"/>
          <a:ext cx="3807052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Preprocessing</a:t>
          </a:r>
        </a:p>
      </dsp:txBody>
      <dsp:txXfrm>
        <a:off x="1007802" y="2188049"/>
        <a:ext cx="3807052" cy="872556"/>
      </dsp:txXfrm>
    </dsp:sp>
    <dsp:sp modelId="{1AAE8DD3-C2AF-4B45-8CF3-1972726CD091}">
      <dsp:nvSpPr>
        <dsp:cNvPr id="0" name=""/>
        <dsp:cNvSpPr/>
      </dsp:nvSpPr>
      <dsp:spPr>
        <a:xfrm>
          <a:off x="0" y="3278745"/>
          <a:ext cx="4815840" cy="872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FA81A-01A0-4A99-B0B6-05B0221A7214}">
      <dsp:nvSpPr>
        <dsp:cNvPr id="0" name=""/>
        <dsp:cNvSpPr/>
      </dsp:nvSpPr>
      <dsp:spPr>
        <a:xfrm>
          <a:off x="263948" y="3475070"/>
          <a:ext cx="479905" cy="4799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24C79-EE76-4C91-BCE6-0C329F8E92FC}">
      <dsp:nvSpPr>
        <dsp:cNvPr id="0" name=""/>
        <dsp:cNvSpPr/>
      </dsp:nvSpPr>
      <dsp:spPr>
        <a:xfrm>
          <a:off x="1007802" y="3278745"/>
          <a:ext cx="3807052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Predictive Modeling</a:t>
          </a:r>
        </a:p>
      </dsp:txBody>
      <dsp:txXfrm>
        <a:off x="1007802" y="3278745"/>
        <a:ext cx="3807052" cy="872556"/>
      </dsp:txXfrm>
    </dsp:sp>
    <dsp:sp modelId="{30AEF1B5-48E1-40B9-8B5D-5429DA4BF730}">
      <dsp:nvSpPr>
        <dsp:cNvPr id="0" name=""/>
        <dsp:cNvSpPr/>
      </dsp:nvSpPr>
      <dsp:spPr>
        <a:xfrm>
          <a:off x="0" y="4369440"/>
          <a:ext cx="4815840" cy="872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4F376-FD84-4A0A-BADB-8387FE9B2D07}">
      <dsp:nvSpPr>
        <dsp:cNvPr id="0" name=""/>
        <dsp:cNvSpPr/>
      </dsp:nvSpPr>
      <dsp:spPr>
        <a:xfrm>
          <a:off x="263948" y="4565765"/>
          <a:ext cx="479905" cy="4799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369D8-D246-4842-8264-87AE0AA5D54B}">
      <dsp:nvSpPr>
        <dsp:cNvPr id="0" name=""/>
        <dsp:cNvSpPr/>
      </dsp:nvSpPr>
      <dsp:spPr>
        <a:xfrm>
          <a:off x="1007802" y="4369440"/>
          <a:ext cx="3807052" cy="87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46" tIns="92346" rIns="92346" bIns="923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Conclusion</a:t>
          </a:r>
        </a:p>
      </dsp:txBody>
      <dsp:txXfrm>
        <a:off x="1007802" y="4369440"/>
        <a:ext cx="3807052" cy="872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45CD9-D290-4741-BE9C-D104210B3859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CAC63-576D-2546-B78A-340B6F60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40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AC63-576D-2546-B78A-340B6F601E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AC63-576D-2546-B78A-340B6F601E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26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38F4-4EED-E574-AE13-157ACF9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3E121-6886-9603-46A5-89729BED6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818A1-CB78-A240-2133-7DED8A31B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A38C-6BA9-E0B8-9265-B04E52159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AC63-576D-2546-B78A-340B6F601E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7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E74DB-62AD-4CE3-6599-926D6CD8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61E9E-DE2F-9CFB-6753-349940D0B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8576E-A6E5-3602-577F-277254BEE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DA098-3FE6-AD1E-E0E8-3B37A830E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AC63-576D-2546-B78A-340B6F601E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14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27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35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2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401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9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86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8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410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5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flaredown/flaredown-autoimmune-symptom-track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kaggle.com/datasets/flaredown/flaredown-autoimmune-symptom-track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2E5E-5EA0-1B4E-4DA5-AD537417A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767102"/>
          </a:xfrm>
        </p:spPr>
        <p:txBody>
          <a:bodyPr>
            <a:normAutofit fontScale="90000"/>
          </a:bodyPr>
          <a:lstStyle/>
          <a:p>
            <a:r>
              <a:rPr lang="en-US" dirty="0"/>
              <a:t>Self-Learning Tutorial: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EDA &amp; Predictive Modeling of Chronic Illnesses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C83B4-7D12-D097-36C6-D50014B722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AI in Healthcare</a:t>
            </a:r>
          </a:p>
          <a:p>
            <a:r>
              <a:rPr lang="en-US"/>
              <a:t>MSAI SPR 25</a:t>
            </a:r>
          </a:p>
          <a:p>
            <a:r>
              <a:rPr lang="en-US"/>
              <a:t>UT Austin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8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CDE6-6A29-9218-100C-14BFDA49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AF59651-1269-B616-E212-DFC722E38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006793"/>
              </p:ext>
            </p:extLst>
          </p:nvPr>
        </p:nvGraphicFramePr>
        <p:xfrm>
          <a:off x="6736080" y="804672"/>
          <a:ext cx="4815840" cy="5248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13A50-9491-D3A6-190E-17DC1E4E5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2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D03601-4724-4293-A32A-3A0879C5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33AC3-E189-483B-9E8C-DFD5D2A18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CC510-D3AD-B216-CCBB-57101FD70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0C5C9-31D4-A3F9-EF52-EE1B4E4D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1052853E-C4F3-2911-8D7B-4FD23FB56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79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E5E2-9847-2D7C-A0D0-25D72630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CA2B-6C54-D2C9-9FF6-6F1BD2D81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98651"/>
            <a:ext cx="7729728" cy="3838354"/>
          </a:xfrm>
        </p:spPr>
        <p:txBody>
          <a:bodyPr>
            <a:normAutofit/>
          </a:bodyPr>
          <a:lstStyle/>
          <a:p>
            <a:r>
              <a:rPr lang="en-US" sz="2000" b="1" dirty="0"/>
              <a:t>Dataset</a:t>
            </a:r>
            <a:r>
              <a:rPr lang="en-US" sz="2000" dirty="0"/>
              <a:t>: </a:t>
            </a:r>
            <a:r>
              <a:rPr lang="en-US" sz="2000" i="1" dirty="0">
                <a:hlinkClick r:id="rId3"/>
              </a:rPr>
              <a:t>Chronic illness: symptoms, treatments and triggers</a:t>
            </a:r>
            <a:r>
              <a:rPr lang="en-US" sz="2000" dirty="0"/>
              <a:t> from Kaggle</a:t>
            </a:r>
          </a:p>
          <a:p>
            <a:pPr lvl="1" fontAlgn="base">
              <a:lnSpc>
                <a:spcPts val="1800"/>
              </a:lnSpc>
            </a:pPr>
            <a:r>
              <a:rPr lang="en-US" sz="1800" b="1" dirty="0"/>
              <a:t>Download</a:t>
            </a:r>
            <a:r>
              <a:rPr lang="en-US" sz="1800" dirty="0"/>
              <a:t>: </a:t>
            </a:r>
            <a:r>
              <a:rPr lang="en-US" sz="1800" i="1" u="none" strike="noStrike" dirty="0" err="1">
                <a:solidFill>
                  <a:srgbClr val="202124"/>
                </a:solidFill>
                <a:effectLst/>
                <a:latin typeface="Inter"/>
              </a:rPr>
              <a:t>export.csv</a:t>
            </a:r>
            <a:r>
              <a:rPr lang="en-US" sz="1800" i="1" u="none" strike="noStrike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sz="1800" b="0" i="0" u="none" strike="noStrike" dirty="0">
                <a:solidFill>
                  <a:srgbClr val="5F6368"/>
                </a:solidFill>
                <a:effectLst/>
                <a:latin typeface="inherit"/>
              </a:rPr>
              <a:t>(686.17 MB)</a:t>
            </a:r>
            <a:endParaRPr lang="en-US" sz="1800" b="1" i="0" u="none" strike="noStrike" dirty="0">
              <a:solidFill>
                <a:srgbClr val="202124"/>
              </a:solidFill>
              <a:effectLst/>
              <a:latin typeface="Inter"/>
            </a:endParaRPr>
          </a:p>
          <a:p>
            <a:r>
              <a:rPr lang="en-US" sz="2000" b="1" dirty="0"/>
              <a:t>About the data:</a:t>
            </a:r>
          </a:p>
          <a:p>
            <a:pPr lvl="1"/>
            <a:r>
              <a:rPr lang="en-US" sz="1800" b="1" dirty="0"/>
              <a:t>Size</a:t>
            </a:r>
            <a:r>
              <a:rPr lang="en-US" sz="1800" dirty="0"/>
              <a:t>: 7,976,223 rows x 9 cols</a:t>
            </a:r>
          </a:p>
          <a:p>
            <a:pPr lvl="1"/>
            <a:r>
              <a:rPr lang="en-US" sz="1800" b="1" dirty="0"/>
              <a:t>Source</a:t>
            </a:r>
            <a:r>
              <a:rPr lang="en-US" sz="1800" dirty="0"/>
              <a:t>: </a:t>
            </a:r>
            <a:r>
              <a:rPr lang="en-US" sz="1800" i="1" dirty="0" err="1"/>
              <a:t>Flaredown</a:t>
            </a:r>
            <a:r>
              <a:rPr lang="en-US" sz="1800" i="1" dirty="0"/>
              <a:t> </a:t>
            </a:r>
            <a:r>
              <a:rPr lang="en-US" sz="1800" dirty="0"/>
              <a:t>app, used for tracking chronic autoimmune and invisible illnesses</a:t>
            </a:r>
          </a:p>
          <a:p>
            <a:pPr lvl="1"/>
            <a:r>
              <a:rPr lang="en-US" sz="1800" dirty="0"/>
              <a:t>Includes conditions, symptoms, treatments, food, tags (“trackables”) recorded by users</a:t>
            </a:r>
          </a:p>
          <a:p>
            <a:pPr lvl="1"/>
            <a:r>
              <a:rPr lang="en-US" sz="1800" dirty="0"/>
              <a:t>Also includes weather, user info, and if applicable, HBI (Harvey Bradshaw Index), "a standardized metric to gauge the severity of Crohn's disease"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262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DEA0-C6CA-859D-7BE3-29B617A4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D47C-F8DD-A480-B587-35165D52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E6E35-A8C9-BEEB-CD08-0238E539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7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14D8-8549-800C-54A3-1798D959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03F0-345B-C5B5-979E-0FB40941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6BEB6-B50F-A37C-EA52-BFFA178F4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7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E6AE1-C47A-A849-ADC3-131EA8B9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D03601-4724-4293-A32A-3A0879C5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33AC3-E189-483B-9E8C-DFD5D2A18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33B6E-0BBD-3CE6-89ED-FEC99D35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EDA </a:t>
            </a:r>
            <a:br>
              <a:rPr lang="en-US" sz="3200" dirty="0"/>
            </a:br>
            <a:r>
              <a:rPr lang="en-US" sz="3200" dirty="0"/>
              <a:t>(Exploratory Data Analysis)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38676-0955-DFAA-C91B-3C3FB7BC5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C2AAA900-DBF7-EFCF-9FEE-891BAAB7F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57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06EF-5248-1FB8-AEFA-56004ED8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&amp; Preview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3F4D0-CE6E-B375-F76E-772C22AFC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45858"/>
            <a:ext cx="7729728" cy="3494170"/>
          </a:xfrm>
        </p:spPr>
        <p:txBody>
          <a:bodyPr>
            <a:normAutofit/>
          </a:bodyPr>
          <a:lstStyle/>
          <a:p>
            <a:r>
              <a:rPr lang="en-US" sz="2000" dirty="0"/>
              <a:t>Download </a:t>
            </a:r>
            <a:r>
              <a:rPr lang="en-US" sz="2000" i="1" dirty="0" err="1"/>
              <a:t>export.csv</a:t>
            </a:r>
            <a:r>
              <a:rPr lang="en-US" sz="2000" i="1" dirty="0"/>
              <a:t> </a:t>
            </a:r>
            <a:r>
              <a:rPr lang="en-US" sz="2000" dirty="0"/>
              <a:t>from </a:t>
            </a:r>
            <a:r>
              <a:rPr lang="en-US" sz="2000" dirty="0">
                <a:hlinkClick r:id="rId2"/>
              </a:rPr>
              <a:t>Kaggle</a:t>
            </a:r>
            <a:endParaRPr lang="en-US" sz="2000" dirty="0"/>
          </a:p>
          <a:p>
            <a:r>
              <a:rPr lang="en-US" sz="2000" dirty="0"/>
              <a:t>Set your data path, then use pandas to load and preview data </a:t>
            </a:r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4124A17-ADDC-5BB7-1679-CD5D5A71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75"/>
          <a:stretch/>
        </p:blipFill>
        <p:spPr>
          <a:xfrm>
            <a:off x="162109" y="3166826"/>
            <a:ext cx="4138053" cy="349417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B1FE96-15D6-B309-DDAC-C2EEEEECE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413" y="3294633"/>
            <a:ext cx="7497478" cy="323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10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B7C3-986F-8824-ADC2-577CB966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User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2B993B-FC0B-11CA-BAEF-38A37314E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245325" cy="3101983"/>
          </a:xfrm>
        </p:spPr>
        <p:txBody>
          <a:bodyPr>
            <a:normAutofit/>
          </a:bodyPr>
          <a:lstStyle/>
          <a:p>
            <a:r>
              <a:rPr lang="en-US" sz="2800" dirty="0"/>
              <a:t>Get subset of data with drop duplicates for unique user info:</a:t>
            </a:r>
          </a:p>
          <a:p>
            <a:pPr lvl="1"/>
            <a:r>
              <a:rPr lang="en-US" sz="2400" dirty="0" err="1"/>
              <a:t>user_id</a:t>
            </a:r>
            <a:r>
              <a:rPr lang="en-US" sz="2400" dirty="0"/>
              <a:t>, age, sex, and country</a:t>
            </a:r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37C2EF6-26F3-2474-3D36-AA3ED6DC6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461" y="2365009"/>
            <a:ext cx="6507922" cy="432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58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49D7-1DD6-7941-CD81-E34092C3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Counts by Sex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C59A-3D87-0582-FF2F-B49E2BFF8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864864" cy="3101983"/>
          </a:xfrm>
        </p:spPr>
        <p:txBody>
          <a:bodyPr/>
          <a:lstStyle/>
          <a:p>
            <a:r>
              <a:rPr lang="en-US" sz="2400" dirty="0"/>
              <a:t>Plot user counts by sex with </a:t>
            </a:r>
            <a:r>
              <a:rPr lang="en-US" sz="2400" dirty="0" err="1"/>
              <a:t>Plotly</a:t>
            </a:r>
            <a:r>
              <a:rPr lang="en-US" sz="2400" dirty="0"/>
              <a:t> express histogram</a:t>
            </a:r>
          </a:p>
          <a:p>
            <a:r>
              <a:rPr lang="en-US" sz="2400" dirty="0"/>
              <a:t>The vast majority of users (82%) are female</a:t>
            </a:r>
          </a:p>
          <a:p>
            <a:endParaRPr lang="en-US" dirty="0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C0ACF30-1969-963D-69CE-9443A0CD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9" b="14773"/>
          <a:stretch/>
        </p:blipFill>
        <p:spPr>
          <a:xfrm>
            <a:off x="6096000" y="2281805"/>
            <a:ext cx="5365898" cy="457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7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AD0C-8397-CAAE-4B9D-ACCCC414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top 10 countries by user counts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F636-4526-2D14-8035-315D14B8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2679437" cy="3101983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/>
              <a:t>Get top 10 countries with sorted (descending) </a:t>
            </a:r>
            <a:r>
              <a:rPr lang="en-US" sz="2600" dirty="0" err="1"/>
              <a:t>groupby</a:t>
            </a:r>
            <a:r>
              <a:rPr lang="en-US" sz="2600" dirty="0"/>
              <a:t>() counts</a:t>
            </a:r>
          </a:p>
          <a:p>
            <a:r>
              <a:rPr lang="en-US" sz="2600" dirty="0"/>
              <a:t>Plot with </a:t>
            </a:r>
            <a:r>
              <a:rPr lang="en-US" sz="2600" dirty="0" err="1"/>
              <a:t>Plotly</a:t>
            </a:r>
            <a:r>
              <a:rPr lang="en-US" sz="2600" dirty="0"/>
              <a:t> express pie chart</a:t>
            </a:r>
          </a:p>
          <a:p>
            <a:r>
              <a:rPr lang="en-US" sz="2600" dirty="0"/>
              <a:t>Top countries: US, followed by Great Britain, Canada, Australia, then New Zealand and others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35E77DC-43DD-6784-761E-ACB2B663C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573" y="2396910"/>
            <a:ext cx="5050291" cy="44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6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8950-D095-C7D0-B76B-6AA00D34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User Age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21ADE-63EF-1583-249C-6947C1F6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45488"/>
            <a:ext cx="7729728" cy="3294539"/>
          </a:xfrm>
        </p:spPr>
        <p:txBody>
          <a:bodyPr>
            <a:normAutofit/>
          </a:bodyPr>
          <a:lstStyle/>
          <a:p>
            <a:r>
              <a:rPr lang="en-US" sz="2000" dirty="0"/>
              <a:t>There are invalid ages (&gt; 100 or &lt;= 0), so let's remove them next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7C34B4-5910-4441-B584-8BE0786F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0" y="2982336"/>
            <a:ext cx="3721100" cy="37211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B9F46A-706E-4A38-2486-E8253DD0E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764" y="3020977"/>
            <a:ext cx="4658763" cy="36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8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9142-6F9F-62C0-80A3-1A5D11F0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Counts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CF24-C484-643A-F48E-D981A7B63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392963" cy="310198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Get and plot user counts by (valid) age</a:t>
            </a:r>
          </a:p>
          <a:p>
            <a:r>
              <a:rPr lang="en-US" sz="2400" dirty="0"/>
              <a:t>Most users (7,475 or 18%) are 25-29</a:t>
            </a:r>
          </a:p>
          <a:p>
            <a:r>
              <a:rPr lang="en-US" sz="2400" dirty="0"/>
              <a:t>There is a good number of users (380) aged 0-4</a:t>
            </a:r>
          </a:p>
          <a:p>
            <a:pPr lvl="1"/>
            <a:r>
              <a:rPr lang="en-US" sz="2000" dirty="0"/>
              <a:t>Perhaps these users are parents tracking their baby's health</a:t>
            </a:r>
          </a:p>
          <a:p>
            <a:endParaRPr lang="en-US" sz="2400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86A63C9-25DC-5017-A9BC-12803F3D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099" y="2173549"/>
            <a:ext cx="4404246" cy="468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8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EAE4-30C2-9E37-3D5E-3FDE9BCC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Check-in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4331-0DA9-67DC-32F6-B1FADFED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4478008" cy="3101983"/>
          </a:xfrm>
        </p:spPr>
        <p:txBody>
          <a:bodyPr/>
          <a:lstStyle/>
          <a:p>
            <a:r>
              <a:rPr lang="en-US" sz="2800" dirty="0"/>
              <a:t>Get subset of data with unique check-in dates per user</a:t>
            </a:r>
          </a:p>
          <a:p>
            <a:r>
              <a:rPr lang="en-US" sz="2800" dirty="0"/>
              <a:t>Convert ‘</a:t>
            </a:r>
            <a:r>
              <a:rPr lang="en-US" sz="2800" dirty="0" err="1"/>
              <a:t>checkin_date</a:t>
            </a:r>
            <a:r>
              <a:rPr lang="en-US" sz="2800" dirty="0"/>
              <a:t>’ to datetime and set it as index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9F0F8B-B964-DB69-4369-2F2CDCFB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44" y="2153412"/>
            <a:ext cx="5445310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43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EF5C-F893-D6FB-B957-DA0EC2C7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Check-in counts by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54FA5-589A-D379-0ECA-8189D1AF2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95728"/>
            <a:ext cx="4623509" cy="421995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Get check-in counts by month with .resample(‘ME’), or “Month End”</a:t>
            </a:r>
          </a:p>
          <a:p>
            <a:r>
              <a:rPr lang="en-US" sz="2400" dirty="0"/>
              <a:t>Plot with </a:t>
            </a:r>
            <a:r>
              <a:rPr lang="en-US" sz="2400" dirty="0" err="1"/>
              <a:t>Plotly</a:t>
            </a:r>
            <a:r>
              <a:rPr lang="en-US" sz="2400" dirty="0"/>
              <a:t> express line chart</a:t>
            </a:r>
          </a:p>
          <a:p>
            <a:r>
              <a:rPr lang="en-US" sz="2400" dirty="0"/>
              <a:t>The highest number of check-ins occurred in Jan 2019</a:t>
            </a:r>
          </a:p>
          <a:p>
            <a:pPr lvl="1"/>
            <a:r>
              <a:rPr lang="en-US" sz="2000" dirty="0"/>
              <a:t>This may be due to excitement for the new year and New Year's resolutions</a:t>
            </a:r>
          </a:p>
          <a:p>
            <a:r>
              <a:rPr lang="en-US" sz="2400" dirty="0"/>
              <a:t>There is a </a:t>
            </a:r>
            <a:r>
              <a:rPr lang="en-US" sz="2400" dirty="0" err="1"/>
              <a:t>dropoff</a:t>
            </a:r>
            <a:r>
              <a:rPr lang="en-US" sz="2400" dirty="0"/>
              <a:t> in check-in counts in Dec 2019</a:t>
            </a:r>
          </a:p>
          <a:p>
            <a:pPr lvl="1"/>
            <a:r>
              <a:rPr lang="en-US" sz="2000" dirty="0"/>
              <a:t>This may be due to the dataset ending with only partial data for the final month</a:t>
            </a:r>
          </a:p>
          <a:p>
            <a:endParaRPr lang="en-US" sz="2400" dirty="0"/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AF870DBB-D43A-322F-F60E-D609239E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646" y="2153412"/>
            <a:ext cx="4560879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35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DB49-5248-981D-4671-A5CD89F0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A434-BD48-91DA-D84F-0CF87C9A1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02268"/>
            <a:ext cx="3864864" cy="4034737"/>
          </a:xfrm>
        </p:spPr>
        <p:txBody>
          <a:bodyPr>
            <a:normAutofit/>
          </a:bodyPr>
          <a:lstStyle/>
          <a:p>
            <a:r>
              <a:rPr lang="en-US" sz="2400" dirty="0"/>
              <a:t>Get trackable type counts with sorted (descending) </a:t>
            </a:r>
            <a:r>
              <a:rPr lang="en-US" sz="2400" dirty="0" err="1"/>
              <a:t>groupby</a:t>
            </a:r>
            <a:r>
              <a:rPr lang="en-US" sz="2400" dirty="0"/>
              <a:t>() counts</a:t>
            </a:r>
          </a:p>
          <a:p>
            <a:r>
              <a:rPr lang="en-US" sz="2400" dirty="0"/>
              <a:t>Plot with </a:t>
            </a:r>
            <a:r>
              <a:rPr lang="en-US" sz="2400" dirty="0" err="1"/>
              <a:t>Plotly</a:t>
            </a:r>
            <a:r>
              <a:rPr lang="en-US" sz="2400" dirty="0"/>
              <a:t> express pie chart</a:t>
            </a:r>
          </a:p>
          <a:p>
            <a:r>
              <a:rPr lang="en-US" sz="2400" dirty="0"/>
              <a:t>Top trackable types: Symptom, followed by Weather, Condition, Treatment, Food, then Tag and HBI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6DA3D-4F4F-C758-9B87-F300E86B8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53412"/>
            <a:ext cx="4782349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37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E82E-4756-890A-78A1-A4C17E29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Trackable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DC84-1CE7-615D-F72B-0DB19B73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8592808" cy="1504189"/>
          </a:xfrm>
        </p:spPr>
        <p:txBody>
          <a:bodyPr>
            <a:normAutofit/>
          </a:bodyPr>
          <a:lstStyle/>
          <a:p>
            <a:r>
              <a:rPr lang="en-US" sz="2000" dirty="0"/>
              <a:t>Get trackable names with sorted (descending) </a:t>
            </a:r>
            <a:r>
              <a:rPr lang="en-US" sz="2000" dirty="0" err="1"/>
              <a:t>groupby</a:t>
            </a:r>
            <a:r>
              <a:rPr lang="en-US" sz="2000" dirty="0"/>
              <a:t>() counts</a:t>
            </a:r>
          </a:p>
          <a:p>
            <a:r>
              <a:rPr lang="en-US" sz="2000" dirty="0"/>
              <a:t>Let's drop Weather trackables, which are pulled via API and not user input</a:t>
            </a:r>
          </a:p>
          <a:p>
            <a:endParaRPr lang="en-US" sz="2000"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66981D8-BB70-7AC1-2A04-F663A62EE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56" y="3116855"/>
            <a:ext cx="5342789" cy="3676673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BC622C0-70E6-284D-0DF9-2741F87A7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371" y="3052386"/>
            <a:ext cx="4874958" cy="38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9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D085-32B7-5A70-B8B0-EED086F4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15 Trackable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9717-4FB5-29B5-422C-0718DDC7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647790" cy="3101983"/>
          </a:xfrm>
        </p:spPr>
        <p:txBody>
          <a:bodyPr>
            <a:normAutofit/>
          </a:bodyPr>
          <a:lstStyle/>
          <a:p>
            <a:r>
              <a:rPr lang="en-US" sz="2400" dirty="0"/>
              <a:t>Plot with </a:t>
            </a:r>
            <a:r>
              <a:rPr lang="en-US" sz="2400" dirty="0" err="1"/>
              <a:t>Plotly</a:t>
            </a:r>
            <a:r>
              <a:rPr lang="en-US" sz="2400" dirty="0"/>
              <a:t> pie chart</a:t>
            </a:r>
          </a:p>
          <a:p>
            <a:r>
              <a:rPr lang="en-US" sz="2400" dirty="0"/>
              <a:t>The top trackable names: Headache, followed by Anxiety, Fatigue, Depression, and then Nausea and others</a:t>
            </a:r>
          </a:p>
          <a:p>
            <a:endParaRPr lang="en-US" sz="2400"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100F52D-A316-2AFC-0AFC-E3CFF115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926" y="2153412"/>
            <a:ext cx="6313074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31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79579-4AFE-6419-0930-D48FBABA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D03601-4724-4293-A32A-3A0879C5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33AC3-E189-483B-9E8C-DFD5D2A18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2E45B-7516-FF5D-1BAD-73E2B497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Data Preprocessing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93420-327C-6A9D-F0C6-90F4F6977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 descr="Statistics">
            <a:extLst>
              <a:ext uri="{FF2B5EF4-FFF2-40B4-BE49-F238E27FC236}">
                <a16:creationId xmlns:a16="http://schemas.microsoft.com/office/drawing/2014/main" id="{FB2A54DF-F030-D28E-C316-C01D541EDA1D}"/>
              </a:ext>
            </a:extLst>
          </p:cNvPr>
          <p:cNvSpPr/>
          <p:nvPr/>
        </p:nvSpPr>
        <p:spPr>
          <a:xfrm>
            <a:off x="4445346" y="722849"/>
            <a:ext cx="3301307" cy="313576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31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4186-057C-8A7E-7B19-CDEB8BC0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0998-D407-DA29-527D-842E274D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ED03601-4724-4293-A32A-3A0879C5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33AC3-E189-483B-9E8C-DFD5D2A18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B63A0-48D1-F539-5A49-DB5BFD41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Predictive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8B3B-9BCB-CB83-F9B6-8EB2DA48F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D40A596-879E-E3B0-25F2-A3FCFB29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5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B2B9-A8E2-00D2-B77C-31B0DABD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97338-B743-A9FC-DAF4-AA2059EB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8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F773-F5B8-85E9-DBAE-1A98883C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2987F-C1DD-37B8-D679-06B7F7ADB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10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F89F-CCA0-5934-E38F-051B46ADDA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9E671-882F-1867-9BB2-3D87105D0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8330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7456</TotalTime>
  <Words>533</Words>
  <Application>Microsoft Macintosh PowerPoint</Application>
  <PresentationFormat>Widescreen</PresentationFormat>
  <Paragraphs>73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Gill Sans MT</vt:lpstr>
      <vt:lpstr>inherit</vt:lpstr>
      <vt:lpstr>Inter</vt:lpstr>
      <vt:lpstr>Parcel</vt:lpstr>
      <vt:lpstr>Self-Learning Tutorial:  EDA &amp; Predictive Modeling of Chronic Illnesses </vt:lpstr>
      <vt:lpstr>Overview</vt:lpstr>
      <vt:lpstr>Introduction</vt:lpstr>
      <vt:lpstr>Data USED</vt:lpstr>
      <vt:lpstr>Background &amp; Goal</vt:lpstr>
      <vt:lpstr>Environment Setup</vt:lpstr>
      <vt:lpstr>EDA  (Exploratory Data Analysis)</vt:lpstr>
      <vt:lpstr>Load &amp; Preview Data</vt:lpstr>
      <vt:lpstr>Get User Data</vt:lpstr>
      <vt:lpstr>User Counts by Sex</vt:lpstr>
      <vt:lpstr>top 10 countries by user counts</vt:lpstr>
      <vt:lpstr>Preview User Age Data</vt:lpstr>
      <vt:lpstr>User Counts by Age</vt:lpstr>
      <vt:lpstr>Get Check-in Dates</vt:lpstr>
      <vt:lpstr>Check-in counts by month</vt:lpstr>
      <vt:lpstr>Trackable Types</vt:lpstr>
      <vt:lpstr>Get Trackable Names</vt:lpstr>
      <vt:lpstr>Top 15 Trackable Names</vt:lpstr>
      <vt:lpstr>Data Preprocessing</vt:lpstr>
      <vt:lpstr>PowerPoint Presentation</vt:lpstr>
      <vt:lpstr>Predictive Modeling</vt:lpstr>
      <vt:lpstr>PowerPoint Presentation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Chelsea B</dc:creator>
  <cp:lastModifiedBy>Ramos, Chelsea B</cp:lastModifiedBy>
  <cp:revision>18</cp:revision>
  <dcterms:created xsi:type="dcterms:W3CDTF">2025-02-28T20:02:17Z</dcterms:created>
  <dcterms:modified xsi:type="dcterms:W3CDTF">2025-03-06T01:57:06Z</dcterms:modified>
</cp:coreProperties>
</file>